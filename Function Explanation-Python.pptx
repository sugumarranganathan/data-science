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B36C3-19C5-4E92-9A01-65BCF3B1BA93}" v="194" dt="2025-12-10T06:58:21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ECE03E-5638-ADC9-944B-3B36C6320CEC}"/>
              </a:ext>
            </a:extLst>
          </p:cNvPr>
          <p:cNvSpPr/>
          <p:nvPr/>
        </p:nvSpPr>
        <p:spPr>
          <a:xfrm>
            <a:off x="2406" y="34197"/>
            <a:ext cx="12185070" cy="7040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8119F-A6D2-4716-19CE-8C51AE673450}"/>
              </a:ext>
            </a:extLst>
          </p:cNvPr>
          <p:cNvSpPr txBox="1"/>
          <p:nvPr/>
        </p:nvSpPr>
        <p:spPr>
          <a:xfrm>
            <a:off x="201283" y="352246"/>
            <a:ext cx="5348378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def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b="0" dirty="0" err="1">
                <a:solidFill>
                  <a:srgbClr val="6A5221"/>
                </a:solidFill>
                <a:latin typeface="Courier New"/>
                <a:ea typeface="Courier New"/>
                <a:cs typeface="Courier New"/>
              </a:rPr>
              <a:t>get_pdf_probability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en-US" b="0" dirty="0" err="1">
                <a:solidFill>
                  <a:srgbClr val="001080"/>
                </a:solidFill>
                <a:latin typeface="Courier New"/>
                <a:ea typeface="Courier New"/>
                <a:cs typeface="Courier New"/>
              </a:rPr>
              <a:t>dataset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lang="en-US" b="0" dirty="0" err="1">
                <a:solidFill>
                  <a:srgbClr val="001080"/>
                </a:solidFill>
                <a:latin typeface="Courier New"/>
                <a:ea typeface="Courier New"/>
                <a:cs typeface="Courier New"/>
              </a:rPr>
              <a:t>startrange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</a:t>
            </a:r>
            <a:r>
              <a:rPr lang="en-US" b="0" dirty="0" err="1">
                <a:solidFill>
                  <a:srgbClr val="001080"/>
                </a:solidFill>
                <a:latin typeface="Courier New"/>
                <a:ea typeface="Courier New"/>
                <a:cs typeface="Courier New"/>
              </a:rPr>
              <a:t>endrange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):</a:t>
            </a:r>
          </a:p>
          <a:p>
            <a:r>
              <a:rPr lang="en-US" b="0" dirty="0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matplotlib </a:t>
            </a:r>
            <a:r>
              <a:rPr lang="en-US" b="0" dirty="0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pyplot</a:t>
            </a:r>
          </a:p>
          <a:p>
            <a:r>
              <a:rPr lang="en-US" b="0" dirty="0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from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scipy.stats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b="0" dirty="0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norm</a:t>
            </a:r>
          </a:p>
          <a:p>
            <a:r>
              <a:rPr lang="en-US" b="0" dirty="0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import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seaborn </a:t>
            </a:r>
            <a:r>
              <a:rPr lang="en-US" b="0" dirty="0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as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sns</a:t>
            </a:r>
          </a:p>
          <a:p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ax = 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sns.distplot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dataset,kde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lang="en-US" b="0" dirty="0" err="1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True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,kde_kws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={</a:t>
            </a:r>
            <a:r>
              <a:rPr lang="en-US" b="0" dirty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lang="en-US" b="0" dirty="0" err="1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color'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:</a:t>
            </a:r>
            <a:r>
              <a:rPr lang="en-US" b="0" dirty="0" err="1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'blue</a:t>
            </a:r>
            <a:r>
              <a:rPr lang="en-US" b="0" dirty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'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},color=</a:t>
            </a:r>
            <a:r>
              <a:rPr lang="en-US" b="0" dirty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'Green'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pyplot.axvline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startrange,color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lang="en-US" b="0" dirty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'Red'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pyplot.axvline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endrange,color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=</a:t>
            </a:r>
            <a:r>
              <a:rPr lang="en-US" b="0" dirty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'Red'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r>
              <a:rPr lang="en-US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</a:rPr>
              <a:t># generate a sample</a:t>
            </a:r>
          </a:p>
          <a:p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 = dataset</a:t>
            </a:r>
          </a:p>
          <a:p>
            <a:r>
              <a:rPr lang="en-US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</a:rPr>
              <a:t># calculate parameters</a:t>
            </a:r>
          </a:p>
          <a:p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sample_mean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=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sample.mean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()</a:t>
            </a:r>
          </a:p>
          <a:p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sample_std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= 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sample.std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()</a:t>
            </a:r>
          </a:p>
          <a:p>
            <a:r>
              <a:rPr lang="en-US" b="0" dirty="0">
                <a:solidFill>
                  <a:srgbClr val="6A5221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en-US" b="0" dirty="0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'Mean=%.3f, Standard Deviation=%.3f'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% (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sample_mean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sample_std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))</a:t>
            </a:r>
          </a:p>
          <a:p>
            <a:r>
              <a:rPr lang="en-US" b="0" dirty="0">
                <a:solidFill>
                  <a:srgbClr val="008000"/>
                </a:solidFill>
                <a:latin typeface="Courier New"/>
                <a:ea typeface="Courier New"/>
                <a:cs typeface="Courier New"/>
              </a:rPr>
              <a:t># define the distribution</a:t>
            </a:r>
          </a:p>
          <a:p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dist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 = norm(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sample_mean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lang="en-US" b="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sample_std</a:t>
            </a:r>
            <a:r>
              <a:rPr lang="en-US" b="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)</a:t>
            </a:r>
          </a:p>
          <a:p>
            <a:endParaRPr lang="en-US" b="0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  <a:p>
            <a:endParaRPr lang="en-US" b="0">
              <a:solidFill>
                <a:srgbClr val="000000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C4970-DB9F-BF4D-6AC2-8FE6D2B6B71C}"/>
              </a:ext>
            </a:extLst>
          </p:cNvPr>
          <p:cNvSpPr txBox="1"/>
          <p:nvPr/>
        </p:nvSpPr>
        <p:spPr>
          <a:xfrm>
            <a:off x="5794075" y="2120660"/>
            <a:ext cx="609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urier New"/>
                <a:ea typeface="Courier New"/>
                <a:cs typeface="Courier New"/>
              </a:rPr>
              <a:t>values = [value </a:t>
            </a:r>
            <a:r>
              <a:rPr lang="en-US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lang="en-US">
                <a:latin typeface="Courier New"/>
                <a:ea typeface="Courier New"/>
                <a:cs typeface="Courier New"/>
              </a:rPr>
              <a:t> value </a:t>
            </a: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lang="en-US">
                <a:latin typeface="Courier New"/>
                <a:ea typeface="Courier New"/>
                <a:cs typeface="Courier New"/>
              </a:rPr>
              <a:t> </a:t>
            </a:r>
            <a:r>
              <a:rPr lang="en-US">
                <a:solidFill>
                  <a:srgbClr val="6A5221"/>
                </a:solidFill>
                <a:latin typeface="Courier New"/>
                <a:ea typeface="Courier New"/>
                <a:cs typeface="Courier New"/>
              </a:rPr>
              <a:t>range</a:t>
            </a:r>
            <a:r>
              <a:rPr lang="en-US">
                <a:latin typeface="Courier New"/>
                <a:ea typeface="Courier New"/>
                <a:cs typeface="Courier New"/>
              </a:rPr>
              <a:t>(startrange, endrange)]</a:t>
            </a:r>
          </a:p>
          <a:p>
            <a:r>
              <a:rPr lang="en-US">
                <a:solidFill>
                  <a:srgbClr val="008000"/>
                </a:solidFill>
                <a:latin typeface="Courier New"/>
                <a:ea typeface="Courier New"/>
                <a:cs typeface="Courier New"/>
              </a:rPr>
              <a:t>#probabilities = [dist.pdf(value) for value in values] </a:t>
            </a:r>
          </a:p>
          <a:p>
            <a:r>
              <a:rPr lang="en-US">
                <a:latin typeface="Courier New"/>
                <a:ea typeface="Courier New"/>
                <a:cs typeface="Courier New"/>
              </a:rPr>
              <a:t>probabilities = []</a:t>
            </a:r>
          </a:p>
          <a:p>
            <a:r>
              <a:rPr lang="en-US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lang="en-US">
                <a:latin typeface="Courier New"/>
                <a:ea typeface="Courier New"/>
                <a:cs typeface="Courier New"/>
              </a:rPr>
              <a:t> value </a:t>
            </a:r>
            <a:r>
              <a:rPr lang="en-US">
                <a:solidFill>
                  <a:srgbClr val="0000FF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lang="en-US">
                <a:latin typeface="Courier New"/>
                <a:ea typeface="Courier New"/>
                <a:cs typeface="Courier New"/>
              </a:rPr>
              <a:t> values:</a:t>
            </a:r>
          </a:p>
          <a:p>
            <a:r>
              <a:rPr lang="en-US">
                <a:latin typeface="Courier New"/>
                <a:ea typeface="Courier New"/>
                <a:cs typeface="Courier New"/>
              </a:rPr>
              <a:t>probabilities.append(dist.pdf(value))</a:t>
            </a:r>
          </a:p>
          <a:p>
            <a:r>
              <a:rPr lang="en-US">
                <a:latin typeface="Courier New"/>
                <a:ea typeface="Courier New"/>
                <a:cs typeface="Courier New"/>
              </a:rPr>
              <a:t>prob=</a:t>
            </a:r>
            <a:r>
              <a:rPr lang="en-US">
                <a:solidFill>
                  <a:srgbClr val="6A5221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lang="en-US">
                <a:latin typeface="Courier New"/>
                <a:ea typeface="Courier New"/>
                <a:cs typeface="Courier New"/>
              </a:rPr>
              <a:t>(probabilities)</a:t>
            </a:r>
          </a:p>
          <a:p>
            <a:r>
              <a:rPr lang="en-US">
                <a:solidFill>
                  <a:srgbClr val="6A5221"/>
                </a:solidFill>
                <a:latin typeface="Courier New"/>
                <a:ea typeface="Courier New"/>
                <a:cs typeface="Courier New"/>
              </a:rPr>
              <a:t>print</a:t>
            </a:r>
            <a:r>
              <a:rPr lang="en-US">
                <a:latin typeface="Courier New"/>
                <a:ea typeface="Courier New"/>
                <a:cs typeface="Courier New"/>
              </a:rPr>
              <a:t>(</a:t>
            </a:r>
            <a:r>
              <a:rPr lang="en-US">
                <a:solidFill>
                  <a:srgbClr val="A31515"/>
                </a:solidFill>
                <a:latin typeface="Courier New"/>
                <a:ea typeface="Courier New"/>
                <a:cs typeface="Courier New"/>
              </a:rPr>
              <a:t>"The area between range({},{}):{}"</a:t>
            </a:r>
            <a:r>
              <a:rPr lang="en-US">
                <a:latin typeface="Courier New"/>
                <a:ea typeface="Courier New"/>
                <a:cs typeface="Courier New"/>
              </a:rPr>
              <a:t>.</a:t>
            </a:r>
            <a:r>
              <a:rPr lang="en-US">
                <a:solidFill>
                  <a:srgbClr val="6A5221"/>
                </a:solidFill>
                <a:latin typeface="Courier New"/>
                <a:ea typeface="Courier New"/>
                <a:cs typeface="Courier New"/>
              </a:rPr>
              <a:t>format</a:t>
            </a:r>
            <a:r>
              <a:rPr lang="en-US">
                <a:latin typeface="Courier New"/>
                <a:ea typeface="Courier New"/>
                <a:cs typeface="Courier New"/>
              </a:rPr>
              <a:t>(startrange,endrange,</a:t>
            </a:r>
            <a:r>
              <a:rPr lang="en-US">
                <a:solidFill>
                  <a:srgbClr val="6A5221"/>
                </a:solidFill>
                <a:latin typeface="Courier New"/>
                <a:ea typeface="Courier New"/>
                <a:cs typeface="Courier New"/>
              </a:rPr>
              <a:t>sum</a:t>
            </a:r>
            <a:r>
              <a:rPr lang="en-US">
                <a:latin typeface="Courier New"/>
                <a:ea typeface="Courier New"/>
                <a:cs typeface="Courier New"/>
              </a:rPr>
              <a:t>(probabilities)))</a:t>
            </a:r>
          </a:p>
          <a:p>
            <a:r>
              <a:rPr lang="en-US">
                <a:solidFill>
                  <a:srgbClr val="9723B4"/>
                </a:solidFill>
                <a:latin typeface="Courier New"/>
                <a:ea typeface="Courier New"/>
                <a:cs typeface="Courier New"/>
              </a:rPr>
              <a:t>return</a:t>
            </a:r>
            <a:r>
              <a:rPr lang="en-US">
                <a:latin typeface="Courier New"/>
                <a:ea typeface="Courier New"/>
                <a:cs typeface="Courier New"/>
              </a:rPr>
              <a:t> prob</a:t>
            </a:r>
          </a:p>
          <a:p>
            <a:endParaRPr lang="en-US">
              <a:latin typeface="Courier New"/>
              <a:ea typeface="Courier New"/>
              <a:cs typeface="Courier New"/>
            </a:endParaRPr>
          </a:p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0A01DC-0E4F-7684-7052-B0B8091AC2BD}"/>
              </a:ext>
            </a:extLst>
          </p:cNvPr>
          <p:cNvCxnSpPr/>
          <p:nvPr/>
        </p:nvCxnSpPr>
        <p:spPr>
          <a:xfrm>
            <a:off x="5541876" y="354679"/>
            <a:ext cx="44335" cy="598522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old text on a black surface&#10;&#10;AI-generated content may be incorrect.">
            <a:extLst>
              <a:ext uri="{FF2B5EF4-FFF2-40B4-BE49-F238E27FC236}">
                <a16:creationId xmlns:a16="http://schemas.microsoft.com/office/drawing/2014/main" id="{F887C872-B3EB-D027-691E-9DF57D770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183" y="342809"/>
            <a:ext cx="4266840" cy="154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D93455-0349-4B87-3B7D-7BD4687E6BA2}"/>
              </a:ext>
            </a:extLst>
          </p:cNvPr>
          <p:cNvSpPr/>
          <p:nvPr/>
        </p:nvSpPr>
        <p:spPr>
          <a:xfrm>
            <a:off x="-40725" y="5442"/>
            <a:ext cx="12256956" cy="7040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12343C92-3C73-EE2A-CA7E-794E1B432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5" y="1016031"/>
            <a:ext cx="12226505" cy="476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626520-150D-1AA5-F94D-5880E346812B}"/>
              </a:ext>
            </a:extLst>
          </p:cNvPr>
          <p:cNvSpPr/>
          <p:nvPr/>
        </p:nvSpPr>
        <p:spPr>
          <a:xfrm>
            <a:off x="2406" y="5442"/>
            <a:ext cx="12213824" cy="7069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ABB24E-E56F-B3BA-B7B6-77E5080C9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6" y="1040022"/>
            <a:ext cx="12226506" cy="477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56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5A42ED-C094-BEE5-CED2-2957DAB7516A}"/>
              </a:ext>
            </a:extLst>
          </p:cNvPr>
          <p:cNvSpPr/>
          <p:nvPr/>
        </p:nvSpPr>
        <p:spPr>
          <a:xfrm>
            <a:off x="2406" y="5442"/>
            <a:ext cx="12213824" cy="7069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rectangular box with black text&#10;&#10;AI-generated content may be incorrect.">
            <a:extLst>
              <a:ext uri="{FF2B5EF4-FFF2-40B4-BE49-F238E27FC236}">
                <a16:creationId xmlns:a16="http://schemas.microsoft.com/office/drawing/2014/main" id="{06482781-A708-6235-FB61-ED5E7790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" y="996892"/>
            <a:ext cx="12240881" cy="487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94434AD-9FA4-E1F7-9A67-49F12996DBC6}"/>
              </a:ext>
            </a:extLst>
          </p:cNvPr>
          <p:cNvSpPr/>
          <p:nvPr/>
        </p:nvSpPr>
        <p:spPr>
          <a:xfrm>
            <a:off x="2406" y="5442"/>
            <a:ext cx="12213824" cy="7069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7CB1B8-23D9-8D71-484D-BEC42BAC6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" y="1037865"/>
            <a:ext cx="12240881" cy="488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87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D2FBBF-8D4E-F511-28E3-B155E64A728E}"/>
              </a:ext>
            </a:extLst>
          </p:cNvPr>
          <p:cNvSpPr/>
          <p:nvPr/>
        </p:nvSpPr>
        <p:spPr>
          <a:xfrm>
            <a:off x="2406" y="5442"/>
            <a:ext cx="12213824" cy="7069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79385E-1177-6701-7141-A2109EAC5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" y="1005428"/>
            <a:ext cx="12212128" cy="489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2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134</cp:revision>
  <dcterms:created xsi:type="dcterms:W3CDTF">2025-12-10T06:09:49Z</dcterms:created>
  <dcterms:modified xsi:type="dcterms:W3CDTF">2025-12-10T06:59:18Z</dcterms:modified>
</cp:coreProperties>
</file>